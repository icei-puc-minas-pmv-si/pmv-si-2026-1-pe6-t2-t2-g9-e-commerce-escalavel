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6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5" r:id="rId9"/>
    <p:sldId id="263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E0DC"/>
    <a:srgbClr val="76C9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F60A6D4-1E4A-A1A4-9305-080D9D97E264}" v="1853" dt="2026-06-10T22:31:41.671"/>
    <p1510:client id="{FC1FC4A0-3A11-CF1D-58DF-4CC5D8570B96}" v="16" dt="2026-06-10T23:00:05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0F8CF-692C-4963-8B5E-D1C0928CF1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72209" y="1013985"/>
            <a:ext cx="5785791" cy="3260635"/>
          </a:xfrm>
        </p:spPr>
        <p:txBody>
          <a:bodyPr anchor="b"/>
          <a:lstStyle>
            <a:lvl1pPr algn="l">
              <a:defRPr sz="3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419655-1613-4CC0-BBE9-BD2CB2C3C7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72209" y="4848465"/>
            <a:ext cx="5785791" cy="1085849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609585" indent="0" algn="ctr">
              <a:buNone/>
              <a:defRPr sz="2400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267FFF-6BC4-4DF0-BC55-B2C3BFD8ED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270120-CDFC-48DE-A6EA-6DEEDD0E436A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89830-A1B7-484B-832C-F64A558BD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8F727-72C8-47A9-8E54-AD8459028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EED5540-64E5-4258-ABA4-753F07B71B38}"/>
              </a:ext>
            </a:extLst>
          </p:cNvPr>
          <p:cNvCxnSpPr>
            <a:cxnSpLocks/>
          </p:cNvCxnSpPr>
          <p:nvPr/>
        </p:nvCxnSpPr>
        <p:spPr>
          <a:xfrm>
            <a:off x="1143001" y="4571506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6599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3EF94C-BCB1-4F4C-AF70-DD2A5C4E3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5446"/>
            <a:ext cx="6928826" cy="857559"/>
          </a:xfrm>
        </p:spPr>
        <p:txBody>
          <a:bodyPr anchor="b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909B75-A057-44B5-872F-DF01BDC8E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2174" y="2286000"/>
            <a:ext cx="6928826" cy="3810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6260C-3219-4812-88F2-3162D37F2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9FAAF-C467-4C93-8ECD-39AF5A14D498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762B73-9C01-4BE3-A199-782BE6EBA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761492-EB56-4454-9D2A-8BB94AACB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17603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B980A128-A52A-402C-865B-1BF08D7F0458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00447-3778-4AB7-ACB3-7C2313FE9A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309" y="1287554"/>
            <a:ext cx="6213722" cy="3113064"/>
          </a:xfrm>
        </p:spPr>
        <p:txBody>
          <a:bodyPr anchor="t"/>
          <a:lstStyle>
            <a:lvl1pPr>
              <a:defRPr sz="5867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10C9-BA3C-4D31-9C62-2C2408591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66308" y="4619708"/>
            <a:ext cx="5791692" cy="1476293"/>
          </a:xfrm>
        </p:spPr>
        <p:txBody>
          <a:bodyPr anchor="b">
            <a:normAutofit/>
          </a:bodyPr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42E8A-6B69-406B-A3DF-0A1B76832E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37E480-B2BA-4553-A144-61E7F75833ED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65CF-4461-4BB8-8F3A-ED1CB1084C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898B27-5EF3-49F4-B3CE-F3CF419AE0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6851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3F3BA-5AD5-4F15-97B2-E4652D1D4E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13411"/>
            <a:ext cx="6928826" cy="88959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A997B8-1FD3-40E6-A486-256EB41DB7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72175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83F4D8-AA9A-4AF7-86EA-E4D797B98C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135566"/>
            <a:ext cx="3371850" cy="396043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8823E-BC08-4810-9BFF-35D2EA2AE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E682A-6B53-4B08-AE4D-4C5E659103CC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DD2BFB-BB2C-4C4A-A6E1-DD223C2BE0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D369B2-12F8-4583-8A7F-523C9A3EF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25758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C717F-84B9-44BA-8DD6-680394AB1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79150"/>
            <a:ext cx="6928826" cy="82391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1217D6-7448-4625-964F-5D82F65F1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6" y="2013217"/>
            <a:ext cx="3371849" cy="704232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3A534C-0B54-4327-99C0-4F0019FD21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72175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D4A63-0795-4B74-8C11-5FE7944118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13216"/>
            <a:ext cx="3371850" cy="70423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400" b="0" cap="all" spc="400" baseline="0">
                <a:solidFill>
                  <a:schemeClr val="tx1"/>
                </a:solidFill>
                <a:latin typeface="+mj-lt"/>
              </a:defRPr>
            </a:lvl1pPr>
            <a:lvl2pPr marL="609585" indent="0">
              <a:buNone/>
              <a:defRPr sz="2400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3D16F3-F747-441B-9854-27225954DEC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3048000"/>
            <a:ext cx="3371850" cy="3048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8168E2-6B97-486E-B0E4-4E7F5CDBB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69F0F6-BEBB-4894-ABB2-75C5CBE0DDB9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D3E2B-2F4E-4347-A8E9-27EB7D035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C1FC4F5-6876-414E-9E30-84706A3F5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70D2F04-5474-46B9-B838-858CDF4AB2D2}"/>
              </a:ext>
            </a:extLst>
          </p:cNvPr>
          <p:cNvCxnSpPr>
            <a:cxnSpLocks/>
          </p:cNvCxnSpPr>
          <p:nvPr/>
        </p:nvCxnSpPr>
        <p:spPr>
          <a:xfrm>
            <a:off x="4703046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>
            <a:extLst>
              <a:ext uri="{FF2B5EF4-FFF2-40B4-BE49-F238E27FC236}">
                <a16:creationId xmlns:a16="http://schemas.microsoft.com/office/drawing/2014/main" id="{CADEE893-BE45-47F3-BCF0-02424B3503CC}"/>
              </a:ext>
            </a:extLst>
          </p:cNvPr>
          <p:cNvSpPr/>
          <p:nvPr/>
        </p:nvSpPr>
        <p:spPr>
          <a:xfrm>
            <a:off x="-878879" y="4592407"/>
            <a:ext cx="606197" cy="38971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3FB5178A-4501-4B56-8BF1-D083D7B021CE}"/>
              </a:ext>
            </a:extLst>
          </p:cNvPr>
          <p:cNvCxnSpPr>
            <a:cxnSpLocks/>
          </p:cNvCxnSpPr>
          <p:nvPr/>
        </p:nvCxnSpPr>
        <p:spPr>
          <a:xfrm>
            <a:off x="1143001" y="2876662"/>
            <a:ext cx="728366" cy="0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4887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2109C6-041C-42BA-B507-8EA298046EDD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7BF877-20DD-40F4-AEA8-E1B6D5350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7DC874-15B5-4338-B7D1-8E393AB4C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3E9E5F-17D9-4A30-9DA3-64E46A6DF111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66BAE3-24C5-483F-9141-D860A265E7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9AEEB4-66F8-4008-B616-804FB9D91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95485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46C975-8FFB-4A4B-9213-774EE3901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3AC5F0-3BC3-4718-BCCA-24B5655EC864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BA744F-475D-4105-8E4A-02581554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3FA64C-7966-4D6F-88D7-4B89F2A1DF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8297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4ED5F-AB94-4DCF-8971-B8B2B55AF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805" y="1558944"/>
            <a:ext cx="2459767" cy="1864196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EE4CB-68CF-4BF3-A891-8277AFD13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000501" y="762000"/>
            <a:ext cx="4000499" cy="5334000"/>
          </a:xfrm>
        </p:spPr>
        <p:txBody>
          <a:bodyPr anchor="ctr">
            <a:normAutofit/>
          </a:bodyPr>
          <a:lstStyle>
            <a:lvl1pPr>
              <a:defRPr sz="3733">
                <a:solidFill>
                  <a:schemeClr val="tx1"/>
                </a:solidFill>
              </a:defRPr>
            </a:lvl1pPr>
            <a:lvl2pPr>
              <a:defRPr sz="3200">
                <a:solidFill>
                  <a:schemeClr val="tx1"/>
                </a:solidFill>
              </a:defRPr>
            </a:lvl2pPr>
            <a:lvl3pPr>
              <a:defRPr sz="2667">
                <a:solidFill>
                  <a:schemeClr val="tx1"/>
                </a:solidFill>
              </a:defRPr>
            </a:lvl3pPr>
            <a:lvl4pPr>
              <a:defRPr sz="2400">
                <a:solidFill>
                  <a:schemeClr val="tx1"/>
                </a:solidFill>
              </a:defRPr>
            </a:lvl4pPr>
            <a:lvl5pPr>
              <a:defRPr sz="2400">
                <a:solidFill>
                  <a:schemeClr val="tx1"/>
                </a:solidFill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292E72-B66D-40EE-B182-5585382A6D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82806" y="3649683"/>
            <a:ext cx="2424822" cy="1933605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D73B694-B050-45F3-AE6F-A86A129F1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B8BD81-465B-40F2-9A54-9DF3B12AF598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8AE423-9CA5-46B3-96B1-7586AD0208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4B973D-F1F7-47BC-996D-6100B7C89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90789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AE9949-4A1F-4DA9-9B75-A6180F954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157" y="1383126"/>
            <a:ext cx="2467415" cy="2045874"/>
          </a:xfrm>
        </p:spPr>
        <p:txBody>
          <a:bodyPr anchor="b"/>
          <a:lstStyle>
            <a:lvl1pPr algn="r">
              <a:defRPr sz="3733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8D794-C670-4569-93D9-0FF8B35AA7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4000501" y="762000"/>
            <a:ext cx="4000499" cy="5334000"/>
          </a:xfrm>
        </p:spPr>
        <p:txBody>
          <a:bodyPr anchor="t"/>
          <a:lstStyle>
            <a:lvl1pPr marL="0" indent="0">
              <a:buNone/>
              <a:defRPr sz="4267">
                <a:solidFill>
                  <a:schemeClr val="tx1"/>
                </a:solidFill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2486F6-AE67-4B34-B8E2-0B7576DC2E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75158" y="3649683"/>
            <a:ext cx="2432469" cy="1684317"/>
          </a:xfrm>
        </p:spPr>
        <p:txBody>
          <a:bodyPr/>
          <a:lstStyle>
            <a:lvl1pPr marL="0" indent="0" algn="r">
              <a:buNone/>
              <a:defRPr sz="2133">
                <a:solidFill>
                  <a:schemeClr val="tx1"/>
                </a:solidFill>
              </a:defRPr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98B11C-BB63-49A6-B488-29D4FBF8E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4B3CEF-64EF-4C43-9530-8E9CBFD2CAD1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4B9166-6D36-4F0A-9ADD-33D49A0C3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B22B8F-7760-41B3-9053-DD90255B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039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8A5DE-E5C6-4DB9-AD28-8F1EAC6F5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E08E-9B2D-4740-9AC6-D5E1CFB95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72174" y="2229958"/>
            <a:ext cx="6928826" cy="3866043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4E3736-E8AA-4F58-9D3A-27050B287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1F5BA7-0A17-4D30-9B66-E29324151C73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E95E84-15BC-478B-9DAB-15025867B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E9D98F-E0A8-4254-A957-7F17811D01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51395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7DE70F5-2276-4F91-9FC2-8DA4B52881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858000" y="1467700"/>
            <a:ext cx="1318846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1856C5-C2FD-45E4-A631-AC06B5495B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86735" y="1467700"/>
            <a:ext cx="5879534" cy="4628301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E336EA-B6DD-4115-9C67-79A24C866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BEBB1B-D40A-4DB9-B3DE-BAAE675B83CD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EA668B-1DAB-449C-9BA4-7B1572A22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C6567E-119D-4C98-93FF-73A332803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901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F84152A-7FE0-4708-B7C1-DBEC8F1337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2174" y="1041622"/>
            <a:ext cx="6928826" cy="861383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11AB53-BAF9-439D-9451-47193CF2F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72174" y="2286000"/>
            <a:ext cx="6928826" cy="38100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B96D9F-562A-496F-A530-A561994DC5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519154" y="4936959"/>
            <a:ext cx="26732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fld id="{B70A3DFD-A535-46B2-84C1-61DC8B16A904}" type="datetimeFigureOut">
              <a:rPr lang="en-US" dirty="0"/>
              <a:t>6/10/2026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060FE-AAC3-4FAE-9EB4-BCAE72D95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7521088" y="1655534"/>
            <a:ext cx="2669427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33" b="1" cap="all" spc="40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77EDB2-8F31-42FA-B253-62D2414663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9681" y="3219853"/>
            <a:ext cx="472240" cy="4298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 b="1">
                <a:solidFill>
                  <a:schemeClr val="tx1">
                    <a:tint val="75000"/>
                  </a:schemeClr>
                </a:solidFill>
                <a:latin typeface="+mj-lt"/>
              </a:defRPr>
            </a:lvl1pPr>
          </a:lstStyle>
          <a:p>
            <a:fld id="{196A61CA-0502-4EE4-9724-96EA822543E5}" type="slidenum">
              <a:rPr lang="en-US" dirty="0"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786945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17" r:id="rId1"/>
    <p:sldLayoutId id="2147483818" r:id="rId2"/>
    <p:sldLayoutId id="2147483819" r:id="rId3"/>
    <p:sldLayoutId id="2147483820" r:id="rId4"/>
    <p:sldLayoutId id="2147483821" r:id="rId5"/>
    <p:sldLayoutId id="2147483822" r:id="rId6"/>
    <p:sldLayoutId id="2147483823" r:id="rId7"/>
    <p:sldLayoutId id="2147483824" r:id="rId8"/>
    <p:sldLayoutId id="2147483825" r:id="rId9"/>
    <p:sldLayoutId id="2147483826" r:id="rId10"/>
    <p:sldLayoutId id="2147483827" r:id="rId11"/>
  </p:sldLayoutIdLst>
  <p:hf hdr="0"/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cap="all" spc="6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914400" rtl="0" eaLnBrk="1" latinLnBrk="0" hangingPunct="1">
        <a:lnSpc>
          <a:spcPct val="130000"/>
        </a:lnSpc>
        <a:spcBef>
          <a:spcPts val="1000"/>
        </a:spcBef>
        <a:buSzPct val="8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274320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6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466344" indent="0" algn="l" defTabSz="914400" rtl="0" eaLnBrk="1" latinLnBrk="0" hangingPunct="1">
        <a:lnSpc>
          <a:spcPct val="130000"/>
        </a:lnSpc>
        <a:spcBef>
          <a:spcPts val="500"/>
        </a:spcBef>
        <a:buSzPct val="85000"/>
        <a:buFontTx/>
        <a:buNone/>
        <a:defRPr sz="1200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640080" indent="-182880" algn="l" defTabSz="914400" rtl="0" eaLnBrk="1" latinLnBrk="0" hangingPunct="1">
        <a:lnSpc>
          <a:spcPct val="130000"/>
        </a:lnSpc>
        <a:spcBef>
          <a:spcPts val="500"/>
        </a:spcBef>
        <a:buSzPct val="85000"/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80" userDrawn="1">
          <p15:clr>
            <a:srgbClr val="F26B43"/>
          </p15:clr>
        </p15:guide>
        <p15:guide id="2" pos="2880" userDrawn="1">
          <p15:clr>
            <a:srgbClr val="F26B43"/>
          </p15:clr>
        </p15:guide>
        <p15:guide id="3" pos="5400" userDrawn="1">
          <p15:clr>
            <a:srgbClr val="F26B43"/>
          </p15:clr>
        </p15:guide>
        <p15:guide id="4" pos="5040" userDrawn="1">
          <p15:clr>
            <a:srgbClr val="F26B43"/>
          </p15:clr>
        </p15:guide>
        <p15:guide id="16" pos="360" userDrawn="1">
          <p15:clr>
            <a:srgbClr val="F26B43"/>
          </p15:clr>
        </p15:guide>
        <p15:guide id="23" orient="horz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9992" y="460287"/>
            <a:ext cx="6394537" cy="801971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lang="pt-BR" sz="4000" b="1">
                <a:solidFill>
                  <a:schemeClr val="bg1"/>
                </a:solidFill>
                <a:ea typeface="Calibri"/>
                <a:cs typeface="Calibri"/>
              </a:rPr>
              <a:t>E-</a:t>
            </a:r>
            <a:r>
              <a:rPr lang="pt-BR" sz="4000">
                <a:solidFill>
                  <a:schemeClr val="bg1"/>
                </a:solidFill>
                <a:ea typeface="Calibri"/>
                <a:cs typeface="Calibri"/>
              </a:rPr>
              <a:t>Commerce</a:t>
            </a:r>
            <a:r>
              <a:rPr lang="pt-BR" sz="4000" b="1">
                <a:solidFill>
                  <a:schemeClr val="bg1"/>
                </a:solidFill>
                <a:ea typeface="Calibri"/>
                <a:cs typeface="Calibri"/>
              </a:rPr>
              <a:t> de Games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827" y="2614656"/>
            <a:ext cx="7257598" cy="37476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b="1">
                <a:solidFill>
                  <a:schemeClr val="bg1"/>
                </a:solidFill>
              </a:rPr>
              <a:t>Integrantes:</a:t>
            </a:r>
          </a:p>
          <a:p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Luís Fernando Moura Santos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Cássio </a:t>
            </a: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Venuto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Moneteiro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Paola Marques Braga</a:t>
            </a:r>
            <a:endParaRPr lang="pt-BR" sz="2000">
              <a:solidFill>
                <a:schemeClr val="bg1"/>
              </a:solidFill>
            </a:endParaRPr>
          </a:p>
          <a:p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Pedro Augusto Teixeira Silva</a:t>
            </a:r>
            <a:endParaRPr lang="pt-BR" sz="2000">
              <a:solidFill>
                <a:schemeClr val="bg1"/>
              </a:solidFill>
            </a:endParaRPr>
          </a:p>
          <a:p>
            <a:endParaRPr lang="pt-BR" dirty="0">
              <a:solidFill>
                <a:srgbClr val="898989"/>
              </a:solidFill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1A14A41-51E9-272E-6237-5170E1ECFB44}"/>
              </a:ext>
            </a:extLst>
          </p:cNvPr>
          <p:cNvSpPr txBox="1"/>
          <p:nvPr/>
        </p:nvSpPr>
        <p:spPr>
          <a:xfrm>
            <a:off x="208009" y="1709615"/>
            <a:ext cx="448437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000000"/>
                </a:solidFill>
                <a:ea typeface="+mn-lt"/>
                <a:cs typeface="+mn-lt"/>
              </a:rPr>
              <a:t>Sistemas de Informação</a:t>
            </a:r>
            <a:endParaRPr lang="pt-BR" b="1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8F596A4-D3C3-F3BA-74DE-852C749CB49C}"/>
              </a:ext>
            </a:extLst>
          </p:cNvPr>
          <p:cNvSpPr txBox="1"/>
          <p:nvPr/>
        </p:nvSpPr>
        <p:spPr>
          <a:xfrm>
            <a:off x="207727" y="2169638"/>
            <a:ext cx="7832509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rgbClr val="000000"/>
                </a:solidFill>
                <a:ea typeface="+mn-lt"/>
                <a:cs typeface="+mn-lt"/>
              </a:rPr>
              <a:t>6º Semestre:</a:t>
            </a:r>
            <a:r>
              <a:rPr lang="pt-BR" sz="2400" b="1">
                <a:solidFill>
                  <a:schemeClr val="bg1"/>
                </a:solidFill>
                <a:ea typeface="+mn-lt"/>
                <a:cs typeface="+mn-lt"/>
              </a:rPr>
              <a:t> Projeto - Arquitetura de Sistemas Distribuídos</a:t>
            </a:r>
            <a:endParaRPr lang="pt-BR" sz="2400" b="1">
              <a:solidFill>
                <a:schemeClr val="bg1"/>
              </a:solidFill>
            </a:endParaRP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7FCF5B3-7710-BF1F-66B5-35CEFE667D9F}"/>
              </a:ext>
            </a:extLst>
          </p:cNvPr>
          <p:cNvSpPr txBox="1"/>
          <p:nvPr/>
        </p:nvSpPr>
        <p:spPr>
          <a:xfrm>
            <a:off x="3847140" y="6372809"/>
            <a:ext cx="143992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10/06/2026</a:t>
            </a:r>
            <a:endParaRPr lang="pt-BR">
              <a:solidFill>
                <a:schemeClr val="bg1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2176" y="384299"/>
            <a:ext cx="7197766" cy="868764"/>
          </a:xfrm>
        </p:spPr>
        <p:txBody>
          <a:bodyPr/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Contexto</a:t>
            </a:r>
            <a:r>
              <a:rPr sz="4000" dirty="0">
                <a:solidFill>
                  <a:schemeClr val="bg1"/>
                </a:solidFill>
              </a:rPr>
              <a:t> e </a:t>
            </a:r>
            <a:r>
              <a:rPr sz="4000" dirty="0" err="1">
                <a:solidFill>
                  <a:schemeClr val="bg1"/>
                </a:solidFill>
              </a:rPr>
              <a:t>Problema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351" y="1557619"/>
            <a:ext cx="8632119" cy="509867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000" b="1" dirty="0">
                <a:solidFill>
                  <a:schemeClr val="bg1"/>
                </a:solidFill>
              </a:rPr>
              <a:t>Problema</a:t>
            </a:r>
            <a:r>
              <a:rPr lang="pt-BR" sz="2000" b="1">
                <a:solidFill>
                  <a:schemeClr val="bg1"/>
                </a:solidFill>
              </a:rPr>
              <a:t>: </a:t>
            </a:r>
            <a:endParaRPr lang="pt-BR" sz="2000" b="1" dirty="0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• </a:t>
            </a: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O mercado de games continua crescendo e gera alta demanda em plataformas de venda online.</a:t>
            </a:r>
            <a:endParaRPr lang="pt-BR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• Em períodos de promoções e lançamentos, </a:t>
            </a:r>
            <a:r>
              <a:rPr lang="pt-BR" dirty="0" err="1">
                <a:solidFill>
                  <a:schemeClr val="bg1"/>
                </a:solidFill>
                <a:ea typeface="+mn-lt"/>
                <a:cs typeface="+mn-lt"/>
              </a:rPr>
              <a:t>e-commerces</a:t>
            </a:r>
            <a:r>
              <a:rPr lang="pt-BR" dirty="0">
                <a:solidFill>
                  <a:schemeClr val="bg1"/>
                </a:solidFill>
                <a:ea typeface="+mn-lt"/>
                <a:cs typeface="+mn-lt"/>
              </a:rPr>
              <a:t> podem sofrer com lentidão e indisponibilidade.</a:t>
            </a:r>
            <a:endParaRPr lang="pt-BR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Era necessário desenvolver uma solução capaz de suportar crescimento mantendo desempenho e disponibilidade.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sz="2000" b="1" dirty="0" err="1">
                <a:solidFill>
                  <a:schemeClr val="bg1"/>
                </a:solidFill>
              </a:rPr>
              <a:t>Objetivo</a:t>
            </a:r>
            <a:r>
              <a:rPr lang="pt-BR" sz="2000" b="1" dirty="0">
                <a:solidFill>
                  <a:schemeClr val="bg1"/>
                </a:solidFill>
              </a:rPr>
              <a:t>:</a:t>
            </a:r>
          </a:p>
          <a:p>
            <a:pPr marL="0" indent="0">
              <a:buNone/>
            </a:pP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Desenvolver uma plataforma de e-commerce escalável para venda de jogos mídia </a:t>
            </a: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física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, oferecendo boa experiência para clientes e ferramentas de gestão para administradores.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792" y="473946"/>
            <a:ext cx="6928826" cy="8575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Solução</a:t>
            </a:r>
            <a:r>
              <a:rPr sz="4000" dirty="0">
                <a:solidFill>
                  <a:schemeClr val="bg1"/>
                </a:solidFill>
              </a:rPr>
              <a:t> </a:t>
            </a:r>
            <a:r>
              <a:rPr sz="4000" dirty="0" err="1">
                <a:solidFill>
                  <a:schemeClr val="bg1"/>
                </a:solidFill>
              </a:rPr>
              <a:t>Desenvolvida</a:t>
            </a:r>
            <a:endParaRPr lang="pt-BR" sz="4000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939" y="1546411"/>
            <a:ext cx="8643324" cy="508747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000" b="1">
                <a:solidFill>
                  <a:schemeClr val="bg1"/>
                </a:solidFill>
              </a:rPr>
              <a:t>Funcionalidades</a:t>
            </a:r>
            <a:r>
              <a:rPr sz="2000" b="1" dirty="0">
                <a:solidFill>
                  <a:schemeClr val="bg1"/>
                </a:solidFill>
              </a:rPr>
              <a:t> </a:t>
            </a:r>
            <a:r>
              <a:rPr sz="2000" b="1">
                <a:solidFill>
                  <a:schemeClr val="bg1"/>
                </a:solidFill>
              </a:rPr>
              <a:t>principais</a:t>
            </a:r>
            <a:r>
              <a:rPr lang="pt-BR" sz="2000" b="1">
                <a:solidFill>
                  <a:schemeClr val="bg1"/>
                </a:solidFill>
              </a:rPr>
              <a:t>:</a:t>
            </a:r>
            <a:endParaRPr lang="pt-BR" sz="2000" b="1" dirty="0" err="1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Cadastro e autenticação de usuários</a:t>
            </a:r>
            <a:endParaRPr lang="pt-BR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Catálogo de produtos</a:t>
            </a:r>
            <a:endParaRPr lang="pt-BR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Carrinho de compras</a:t>
            </a:r>
            <a:endParaRPr lang="pt-BR">
              <a:solidFill>
                <a:schemeClr val="bg1"/>
              </a:solidFill>
            </a:endParaRPr>
          </a:p>
          <a:p>
            <a:pPr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Gestão de produtos e estoque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pt-BR">
                <a:solidFill>
                  <a:schemeClr val="bg1"/>
                </a:solidFill>
                <a:ea typeface="+mn-lt"/>
                <a:cs typeface="+mn-lt"/>
              </a:rPr>
              <a:t>• Relatórios administrativos</a:t>
            </a:r>
            <a:endParaRPr lang="pt-BR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8F5AB4C1-0618-74D3-6FA8-13D479EE3EBA}"/>
              </a:ext>
            </a:extLst>
          </p:cNvPr>
          <p:cNvSpPr/>
          <p:nvPr/>
        </p:nvSpPr>
        <p:spPr>
          <a:xfrm>
            <a:off x="8743266" y="3685062"/>
            <a:ext cx="294244" cy="1359129"/>
          </a:xfrm>
          <a:prstGeom prst="rect">
            <a:avLst/>
          </a:prstGeom>
          <a:solidFill>
            <a:srgbClr val="79E0D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792" y="337326"/>
            <a:ext cx="6928826" cy="857559"/>
          </a:xfrm>
        </p:spPr>
        <p:txBody>
          <a:bodyPr/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Arquitetura</a:t>
            </a:r>
            <a:endParaRPr lang="pt-BR" sz="4000" dirty="0" err="1">
              <a:solidFill>
                <a:schemeClr val="bg1"/>
              </a:solidFill>
            </a:endParaRPr>
          </a:p>
        </p:txBody>
      </p:sp>
      <p:pic>
        <p:nvPicPr>
          <p:cNvPr id="5" name="Espaço Reservado para Conteúdo 4" descr="Interface gráfica do usuário, Aplicativo&#10;&#10;O conteúdo gerado por IA pode estar incorreto.">
            <a:extLst>
              <a:ext uri="{FF2B5EF4-FFF2-40B4-BE49-F238E27FC236}">
                <a16:creationId xmlns:a16="http://schemas.microsoft.com/office/drawing/2014/main" id="{7CDAE4CE-4BEA-4256-6279-F3E060773B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703" y="1196880"/>
            <a:ext cx="8908674" cy="56589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20877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792" y="249828"/>
            <a:ext cx="6928826" cy="857559"/>
          </a:xfrm>
        </p:spPr>
        <p:txBody>
          <a:bodyPr/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Tecnologias</a:t>
            </a:r>
            <a:r>
              <a:rPr sz="4000" dirty="0">
                <a:solidFill>
                  <a:schemeClr val="bg1"/>
                </a:solidFill>
              </a:rPr>
              <a:t> </a:t>
            </a:r>
            <a:r>
              <a:rPr sz="4000" dirty="0" err="1">
                <a:solidFill>
                  <a:schemeClr val="bg1"/>
                </a:solidFill>
              </a:rPr>
              <a:t>Utilizadas</a:t>
            </a:r>
            <a:endParaRPr lang="pt-BR" sz="4000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5351" y="1714500"/>
            <a:ext cx="2401649" cy="170329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None/>
            </a:pPr>
            <a:endParaRPr lang="pt-BR" sz="2000" b="1" dirty="0">
              <a:solidFill>
                <a:schemeClr val="bg1"/>
              </a:solidFill>
            </a:endParaRPr>
          </a:p>
          <a:p>
            <a:pPr indent="0">
              <a:buNone/>
            </a:pPr>
            <a:endParaRPr lang="pt-BR" dirty="0"/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D5DCA1C5-232D-ECEC-FE6E-A4E7517E2B8B}"/>
              </a:ext>
            </a:extLst>
          </p:cNvPr>
          <p:cNvSpPr txBox="1"/>
          <p:nvPr/>
        </p:nvSpPr>
        <p:spPr>
          <a:xfrm>
            <a:off x="3480344" y="2082053"/>
            <a:ext cx="2194354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 err="1">
                <a:solidFill>
                  <a:schemeClr val="bg1"/>
                </a:solidFill>
              </a:rPr>
              <a:t>Frontend</a:t>
            </a:r>
            <a:r>
              <a:rPr lang="pt-BR" sz="2400" b="1" dirty="0">
                <a:solidFill>
                  <a:schemeClr val="bg1"/>
                </a:solidFill>
              </a:rPr>
              <a:t> Web:</a:t>
            </a:r>
          </a:p>
          <a:p>
            <a:pPr marL="342900" indent="-34290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</a:rPr>
              <a:t>HTML5 </a:t>
            </a:r>
            <a:endParaRPr lang="pt-BR" sz="2400" b="1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</a:rPr>
              <a:t>CSS3 </a:t>
            </a:r>
            <a:endParaRPr lang="pt-BR" sz="2400" b="1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400" b="1" dirty="0" err="1">
                <a:solidFill>
                  <a:schemeClr val="bg1"/>
                </a:solidFill>
              </a:rPr>
              <a:t>JavaScript</a:t>
            </a:r>
            <a:r>
              <a:rPr lang="pt-BR" sz="24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C7B5E63-4547-E4FB-0E75-C4CD5BA6A73F}"/>
              </a:ext>
            </a:extLst>
          </p:cNvPr>
          <p:cNvSpPr txBox="1"/>
          <p:nvPr/>
        </p:nvSpPr>
        <p:spPr>
          <a:xfrm>
            <a:off x="658444" y="2079232"/>
            <a:ext cx="2003786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 err="1">
                <a:solidFill>
                  <a:schemeClr val="bg1"/>
                </a:solidFill>
              </a:rPr>
              <a:t>Backend</a:t>
            </a:r>
            <a:r>
              <a:rPr lang="pt-BR" sz="2400" b="1" dirty="0">
                <a:solidFill>
                  <a:schemeClr val="bg1"/>
                </a:solidFill>
              </a:rPr>
              <a:t>:</a:t>
            </a:r>
          </a:p>
          <a:p>
            <a:pPr marL="342900" indent="-34290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</a:rPr>
              <a:t>ASP.NET</a:t>
            </a:r>
            <a:endParaRPr lang="pt-BR" sz="2400" b="1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</a:rPr>
              <a:t>SQL Server 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F78E83F-6DF0-BFEA-0CCC-17C2F7DDE7AB}"/>
              </a:ext>
            </a:extLst>
          </p:cNvPr>
          <p:cNvSpPr txBox="1"/>
          <p:nvPr/>
        </p:nvSpPr>
        <p:spPr>
          <a:xfrm>
            <a:off x="6369532" y="2082036"/>
            <a:ext cx="2466204" cy="120032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 dirty="0" err="1">
                <a:solidFill>
                  <a:schemeClr val="bg1"/>
                </a:solidFill>
              </a:rPr>
              <a:t>Frontend</a:t>
            </a:r>
            <a:r>
              <a:rPr lang="pt-BR" sz="2400" b="1" dirty="0">
                <a:solidFill>
                  <a:schemeClr val="bg1"/>
                </a:solidFill>
              </a:rPr>
              <a:t> Mobile:</a:t>
            </a:r>
          </a:p>
          <a:p>
            <a:pPr marL="285750" indent="-285750">
              <a:buFont typeface="Arial"/>
              <a:buChar char="•"/>
            </a:pPr>
            <a:r>
              <a:rPr lang="pt-BR" sz="2400" b="1" dirty="0" err="1">
                <a:solidFill>
                  <a:schemeClr val="bg1"/>
                </a:solidFill>
                <a:ea typeface="+mn-lt"/>
                <a:cs typeface="+mn-lt"/>
              </a:rPr>
              <a:t>React</a:t>
            </a: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2400" b="1" dirty="0" err="1">
                <a:solidFill>
                  <a:schemeClr val="bg1"/>
                </a:solidFill>
                <a:ea typeface="+mn-lt"/>
                <a:cs typeface="+mn-lt"/>
              </a:rPr>
              <a:t>Native</a:t>
            </a:r>
            <a:r>
              <a:rPr lang="pt-BR" sz="2400" b="1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endParaRPr lang="pt-BR" sz="2400" b="1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  <a:ea typeface="+mn-lt"/>
                <a:cs typeface="+mn-lt"/>
              </a:rPr>
              <a:t>Expo </a:t>
            </a:r>
            <a:endParaRPr lang="pt-BR" sz="2400" b="1">
              <a:solidFill>
                <a:schemeClr val="bg1"/>
              </a:solidFill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34AC6AD-FE31-00BF-020A-79CF81CB05F2}"/>
              </a:ext>
            </a:extLst>
          </p:cNvPr>
          <p:cNvSpPr txBox="1"/>
          <p:nvPr/>
        </p:nvSpPr>
        <p:spPr>
          <a:xfrm>
            <a:off x="2917211" y="4472520"/>
            <a:ext cx="3318125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Repositório</a:t>
            </a:r>
            <a:r>
              <a:rPr lang="pt-BR" sz="2400" b="1" dirty="0">
                <a:solidFill>
                  <a:schemeClr val="bg1"/>
                </a:solidFill>
              </a:rPr>
              <a:t> de Código:</a:t>
            </a:r>
          </a:p>
          <a:p>
            <a:pPr marL="342900" indent="-342900">
              <a:buFont typeface="Arial"/>
              <a:buChar char="•"/>
            </a:pPr>
            <a:r>
              <a:rPr lang="pt-BR" sz="2400" b="1">
                <a:solidFill>
                  <a:schemeClr val="bg1"/>
                </a:solidFill>
              </a:rPr>
              <a:t>Github</a:t>
            </a:r>
            <a:endParaRPr lang="pt-BR" sz="2400" b="1" dirty="0">
              <a:solidFill>
                <a:schemeClr val="bg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792" y="409934"/>
            <a:ext cx="6928826" cy="8575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>
                <a:solidFill>
                  <a:schemeClr val="bg1"/>
                </a:solidFill>
              </a:rPr>
              <a:t>Equipe e </a:t>
            </a:r>
            <a:r>
              <a:rPr sz="4000" dirty="0" err="1">
                <a:solidFill>
                  <a:schemeClr val="bg1"/>
                </a:solidFill>
              </a:rPr>
              <a:t>Contribuições</a:t>
            </a:r>
            <a:endParaRPr lang="pt-BR" sz="4000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4035" y="1260893"/>
            <a:ext cx="8665736" cy="396688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sz="2400" b="1" dirty="0" err="1">
                <a:solidFill>
                  <a:schemeClr val="bg1"/>
                </a:solidFill>
              </a:rPr>
              <a:t>Responsabilidades</a:t>
            </a:r>
            <a:r>
              <a:rPr lang="pt-BR" sz="2400" b="1" dirty="0">
                <a:solidFill>
                  <a:schemeClr val="bg1"/>
                </a:solidFill>
              </a:rPr>
              <a:t>:</a:t>
            </a:r>
            <a:r>
              <a:rPr lang="pt-BR" sz="2000" b="1" dirty="0">
                <a:solidFill>
                  <a:schemeClr val="bg1"/>
                </a:solidFill>
              </a:rPr>
              <a:t> </a:t>
            </a:r>
          </a:p>
          <a:p>
            <a:pPr marL="342900" indent="-342900"/>
            <a:r>
              <a:rPr lang="pt-BR" sz="2000" dirty="0">
                <a:solidFill>
                  <a:schemeClr val="bg1"/>
                </a:solidFill>
              </a:rPr>
              <a:t>Cássio </a:t>
            </a:r>
            <a:r>
              <a:rPr lang="pt-BR" sz="2000" dirty="0" err="1">
                <a:solidFill>
                  <a:schemeClr val="bg1"/>
                </a:solidFill>
              </a:rPr>
              <a:t>Venuto</a:t>
            </a:r>
            <a:r>
              <a:rPr lang="pt-BR" sz="2000" dirty="0">
                <a:solidFill>
                  <a:schemeClr val="bg1"/>
                </a:solidFill>
              </a:rPr>
              <a:t> </a:t>
            </a:r>
            <a:r>
              <a:rPr lang="pt-BR" sz="2000" dirty="0" err="1">
                <a:solidFill>
                  <a:schemeClr val="bg1"/>
                </a:solidFill>
              </a:rPr>
              <a:t>Moneteiro</a:t>
            </a:r>
            <a:r>
              <a:rPr lang="pt-BR" sz="2000" dirty="0">
                <a:solidFill>
                  <a:schemeClr val="bg1"/>
                </a:solidFill>
              </a:rPr>
              <a:t>: Responsável pela maior parte do desenvolvimento</a:t>
            </a:r>
            <a:endParaRPr lang="en-US" sz="2000">
              <a:solidFill>
                <a:schemeClr val="bg1"/>
              </a:solidFill>
            </a:endParaRPr>
          </a:p>
          <a:p>
            <a:pPr marL="342900" indent="-342900"/>
            <a:r>
              <a:rPr lang="pt-BR" sz="2000" dirty="0">
                <a:solidFill>
                  <a:schemeClr val="bg1"/>
                </a:solidFill>
              </a:rPr>
              <a:t>Luís Fernando Moura Santos: </a:t>
            </a:r>
            <a:r>
              <a:rPr lang="pt-BR" sz="2000">
                <a:solidFill>
                  <a:schemeClr val="bg1"/>
                </a:solidFill>
              </a:rPr>
              <a:t>Responsável</a:t>
            </a:r>
            <a:r>
              <a:rPr lang="pt-BR" sz="2000" dirty="0">
                <a:solidFill>
                  <a:schemeClr val="bg1"/>
                </a:solidFill>
              </a:rPr>
              <a:t> pelos testes e auxiliou no desenvolvimento</a:t>
            </a:r>
          </a:p>
          <a:p>
            <a:pPr marL="342900" indent="-342900"/>
            <a:r>
              <a:rPr lang="pt-BR" sz="2000" dirty="0">
                <a:solidFill>
                  <a:schemeClr val="bg1"/>
                </a:solidFill>
              </a:rPr>
              <a:t>Paola Marques Braga: Responsável pela documentação e auxiliou nos testes e </a:t>
            </a:r>
            <a:r>
              <a:rPr lang="pt-BR" sz="2000">
                <a:solidFill>
                  <a:schemeClr val="bg1"/>
                </a:solidFill>
              </a:rPr>
              <a:t>desenvolvimento</a:t>
            </a:r>
            <a:endParaRPr lang="pt-BR" sz="2000" dirty="0">
              <a:solidFill>
                <a:schemeClr val="bg1"/>
              </a:solidFill>
            </a:endParaRPr>
          </a:p>
          <a:p>
            <a:pPr marL="342900" indent="-342900"/>
            <a:r>
              <a:rPr lang="pt-BR" sz="2000" dirty="0">
                <a:solidFill>
                  <a:schemeClr val="bg1"/>
                </a:solidFill>
              </a:rPr>
              <a:t>Pedro Augusto Teixeira Silva: </a:t>
            </a:r>
            <a:r>
              <a:rPr lang="pt-BR" sz="2000">
                <a:solidFill>
                  <a:schemeClr val="bg1"/>
                </a:solidFill>
              </a:rPr>
              <a:t>Responsável pela documentação</a:t>
            </a:r>
          </a:p>
          <a:p>
            <a:endParaRPr lang="pt-BR" dirty="0">
              <a:solidFill>
                <a:srgbClr val="FFFFFF"/>
              </a:solidFill>
            </a:endParaRPr>
          </a:p>
          <a:p>
            <a:endParaRPr lang="pt-BR" dirty="0"/>
          </a:p>
          <a:p>
            <a:endParaRPr lang="pt-BR" dirty="0"/>
          </a:p>
          <a:p>
            <a:endParaRPr lang="pt-B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2148" y="348839"/>
            <a:ext cx="8688148" cy="790324"/>
          </a:xfrm>
        </p:spPr>
        <p:txBody>
          <a:bodyPr/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lang="pt-BR" sz="3600">
                <a:solidFill>
                  <a:schemeClr val="bg1"/>
                </a:solidFill>
                <a:ea typeface="+mj-lt"/>
                <a:cs typeface="+mj-lt"/>
              </a:rPr>
              <a:t>gestão do trabalho da equipe</a:t>
            </a:r>
            <a:endParaRPr lang="pt-BR" sz="360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5989798-CC3B-A099-A2FA-08A7970779B9}"/>
              </a:ext>
            </a:extLst>
          </p:cNvPr>
          <p:cNvSpPr txBox="1"/>
          <p:nvPr/>
        </p:nvSpPr>
        <p:spPr>
          <a:xfrm>
            <a:off x="134573" y="1146165"/>
            <a:ext cx="44333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b="1">
                <a:solidFill>
                  <a:schemeClr val="bg1"/>
                </a:solidFill>
              </a:rPr>
              <a:t>Resumo Geral de Contribuições:</a:t>
            </a:r>
          </a:p>
        </p:txBody>
      </p:sp>
      <p:pic>
        <p:nvPicPr>
          <p:cNvPr id="10" name="Espaço Reservado para Conteúdo 9" descr="Calendário&#10;&#10;O conteúdo gerado por IA pode estar incorreto.">
            <a:extLst>
              <a:ext uri="{FF2B5EF4-FFF2-40B4-BE49-F238E27FC236}">
                <a16:creationId xmlns:a16="http://schemas.microsoft.com/office/drawing/2014/main" id="{B5C43A82-FAFC-A6D3-4AC2-FE42F54085B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528" y="1610006"/>
            <a:ext cx="8876940" cy="308653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7475C6-BE38-3A20-6B89-5EE0DD95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4561" y="405636"/>
            <a:ext cx="8508854" cy="8575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lang="pt-BR" sz="3600">
                <a:solidFill>
                  <a:schemeClr val="bg1"/>
                </a:solidFill>
              </a:rPr>
              <a:t>gestão do trabalho da equipe</a:t>
            </a:r>
          </a:p>
          <a:p>
            <a:pPr algn="ctr"/>
            <a:endParaRPr lang="pt-BR" sz="4000" dirty="0">
              <a:solidFill>
                <a:schemeClr val="bg1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AEF970-A38A-AC23-E3E3-DC37ABB35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674" y="1142999"/>
            <a:ext cx="3701532" cy="571501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pt-BR" sz="2400" b="1">
                <a:solidFill>
                  <a:schemeClr val="bg1"/>
                </a:solidFill>
              </a:rPr>
              <a:t>Contribuições Semanais:</a:t>
            </a:r>
          </a:p>
          <a:p>
            <a:pPr marL="0" indent="0">
              <a:buNone/>
            </a:pPr>
            <a:endParaRPr lang="pt-BR" dirty="0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15E60CE-8558-C8EC-34DE-2087E5AAE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8343AF-961E-492F-B696-DFEFC9A7420B}" type="datetime1">
              <a:t>10/06/2026</a:t>
            </a:fld>
            <a:endParaRPr lang="en-US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75F0823-CF1F-13BF-B87A-32F2C71B7A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048E146-A59D-27FD-9F5F-7B7D6EDE21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6A61CA-0502-4EE4-9724-96EA822543E5}" type="slidenum">
              <a:rPr lang="en-US" dirty="0"/>
              <a:t>8</a:t>
            </a:fld>
            <a:endParaRPr lang="en-US" dirty="0"/>
          </a:p>
        </p:txBody>
      </p:sp>
      <p:pic>
        <p:nvPicPr>
          <p:cNvPr id="8" name="Imagem 7" descr="Gráfico, Gráfico de linhas&#10;&#10;O conteúdo gerado por IA pode estar incorreto.">
            <a:extLst>
              <a:ext uri="{FF2B5EF4-FFF2-40B4-BE49-F238E27FC236}">
                <a16:creationId xmlns:a16="http://schemas.microsoft.com/office/drawing/2014/main" id="{823190AE-37D0-3CA9-0989-BE8EA3960E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35" y="1717740"/>
            <a:ext cx="9009531" cy="481204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8115247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5792" y="408399"/>
            <a:ext cx="6928826" cy="857559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>
              <a:defRPr b="1">
                <a:solidFill>
                  <a:srgbClr val="26786C"/>
                </a:solidFill>
              </a:defRPr>
            </a:pPr>
            <a:r>
              <a:rPr sz="4000" dirty="0" err="1">
                <a:solidFill>
                  <a:schemeClr val="bg1"/>
                </a:solidFill>
              </a:rPr>
              <a:t>Considerações</a:t>
            </a:r>
            <a:r>
              <a:rPr sz="4000" dirty="0">
                <a:solidFill>
                  <a:schemeClr val="bg1"/>
                </a:solidFill>
              </a:rPr>
              <a:t> </a:t>
            </a:r>
            <a:r>
              <a:rPr sz="4000" dirty="0" err="1">
                <a:solidFill>
                  <a:schemeClr val="bg1"/>
                </a:solidFill>
              </a:rPr>
              <a:t>Finais</a:t>
            </a:r>
            <a:endParaRPr lang="pt-BR" sz="4000" dirty="0" err="1">
              <a:solidFill>
                <a:schemeClr val="bg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pt-BR" dirty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AC56243-35E8-9954-54BC-FED841A09B07}"/>
              </a:ext>
            </a:extLst>
          </p:cNvPr>
          <p:cNvSpPr txBox="1"/>
          <p:nvPr/>
        </p:nvSpPr>
        <p:spPr>
          <a:xfrm>
            <a:off x="249420" y="1137766"/>
            <a:ext cx="7972625" cy="378565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000" b="1">
                <a:solidFill>
                  <a:schemeClr val="bg1"/>
                </a:solidFill>
              </a:rPr>
              <a:t>Avaliação das tecnologias</a:t>
            </a:r>
            <a:endParaRPr lang="pt-BR" sz="2000" b="1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ASP.NET Core facilitou a criação da API REST</a:t>
            </a: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React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</a:t>
            </a: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Native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permitiu reutilização de código para Android e iOS</a:t>
            </a: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SQL Server garantiu persistência estruturada</a:t>
            </a:r>
            <a:endParaRPr lang="pt-BR" sz="2000" dirty="0">
              <a:solidFill>
                <a:schemeClr val="bg1"/>
              </a:solidFill>
            </a:endParaRPr>
          </a:p>
          <a:p>
            <a:pPr marL="342900" indent="-34290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GitHub facilitou colaboração da equipe</a:t>
            </a:r>
            <a:endParaRPr lang="pt-BR" sz="2000" dirty="0">
              <a:solidFill>
                <a:schemeClr val="bg1"/>
              </a:solidFill>
            </a:endParaRPr>
          </a:p>
          <a:p>
            <a:endParaRPr lang="pt-BR" sz="2000" dirty="0">
              <a:solidFill>
                <a:schemeClr val="bg1"/>
              </a:solidFill>
            </a:endParaRPr>
          </a:p>
          <a:p>
            <a:r>
              <a:rPr lang="pt-BR" sz="2000" b="1">
                <a:solidFill>
                  <a:schemeClr val="bg1"/>
                </a:solidFill>
              </a:rPr>
              <a:t>Melhorias futuras</a:t>
            </a: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Lista de Favoritos e Avaliação de Produto</a:t>
            </a:r>
            <a:endParaRPr lang="pt-B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Sistema de recomendações</a:t>
            </a:r>
            <a:endParaRPr lang="pt-BR" sz="2000" dirty="0">
              <a:solidFill>
                <a:schemeClr val="bg1"/>
              </a:solidFill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pt-BR" sz="2000" dirty="0" err="1">
                <a:solidFill>
                  <a:schemeClr val="bg1"/>
                </a:solidFill>
                <a:ea typeface="+mn-lt"/>
                <a:cs typeface="+mn-lt"/>
              </a:rPr>
              <a:t>Deploy</a:t>
            </a:r>
            <a:r>
              <a:rPr lang="pt-BR" sz="2000" dirty="0">
                <a:solidFill>
                  <a:schemeClr val="bg1"/>
                </a:solidFill>
                <a:ea typeface="+mn-lt"/>
                <a:cs typeface="+mn-lt"/>
              </a:rPr>
              <a:t> completo em nuvem </a:t>
            </a:r>
            <a:endParaRPr lang="pt-BR" sz="200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Testes automatizados </a:t>
            </a:r>
            <a:endParaRPr lang="pt-BR" sz="2000" dirty="0">
              <a:solidFill>
                <a:schemeClr val="bg1"/>
              </a:solidFill>
            </a:endParaRPr>
          </a:p>
          <a:p>
            <a:pPr marL="285750" indent="-285750">
              <a:buFont typeface="Arial"/>
              <a:buChar char="•"/>
            </a:pPr>
            <a:r>
              <a:rPr lang="pt-BR" sz="2000">
                <a:solidFill>
                  <a:schemeClr val="bg1"/>
                </a:solidFill>
                <a:ea typeface="+mn-lt"/>
                <a:cs typeface="+mn-lt"/>
              </a:rPr>
              <a:t>Integração com gateway de pagamento </a:t>
            </a:r>
            <a:endParaRPr lang="pt-BR" sz="2000" dirty="0">
              <a:solidFill>
                <a:schemeClr val="bg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53C8B4"/>
          </a:solidFill>
          <a:ln>
            <a:solidFill>
              <a:srgbClr val="53C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rtalVTI">
  <a:themeElements>
    <a:clrScheme name="PortalVTI">
      <a:dk1>
        <a:sysClr val="windowText" lastClr="000000"/>
      </a:dk1>
      <a:lt1>
        <a:sysClr val="window" lastClr="FFFFFF"/>
      </a:lt1>
      <a:dk2>
        <a:srgbClr val="051618"/>
      </a:dk2>
      <a:lt2>
        <a:srgbClr val="E8E8DF"/>
      </a:lt2>
      <a:accent1>
        <a:srgbClr val="2D714C"/>
      </a:accent1>
      <a:accent2>
        <a:srgbClr val="1F7985"/>
      </a:accent2>
      <a:accent3>
        <a:srgbClr val="0D6756"/>
      </a:accent3>
      <a:accent4>
        <a:srgbClr val="40945E"/>
      </a:accent4>
      <a:accent5>
        <a:srgbClr val="389896"/>
      </a:accent5>
      <a:accent6>
        <a:srgbClr val="64924A"/>
      </a:accent6>
      <a:hlink>
        <a:srgbClr val="1F855C"/>
      </a:hlink>
      <a:folHlink>
        <a:srgbClr val="227390"/>
      </a:folHlink>
    </a:clrScheme>
    <a:fontScheme name="PortalVTI">
      <a:majorFont>
        <a:latin typeface="Trade Gothic Next Cond"/>
        <a:ea typeface=""/>
        <a:cs typeface=""/>
      </a:majorFont>
      <a:minorFont>
        <a:latin typeface="Trade Gothic Next Light"/>
        <a:ea typeface=""/>
        <a:cs typeface=""/>
      </a:minorFont>
    </a:fontScheme>
    <a:fmtScheme name="Portal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ortalVTI" id="{E3A4BB4D-5227-4A6D-99D3-DBAB0FE4C68F}" vid="{BE515EFD-5A7A-4BFE-BE06-A21DB8499C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Apresentação na tela (4:3)</PresentationFormat>
  <Paragraphs>0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0" baseType="lpstr">
      <vt:lpstr>PortalVTI</vt:lpstr>
      <vt:lpstr>E-Commerce de Games</vt:lpstr>
      <vt:lpstr>Contexto e Problema</vt:lpstr>
      <vt:lpstr>Solução Desenvolvida</vt:lpstr>
      <vt:lpstr>Arquitetura</vt:lpstr>
      <vt:lpstr>Tecnologias Utilizadas</vt:lpstr>
      <vt:lpstr>Equipe e Contribuições</vt:lpstr>
      <vt:lpstr>gestão do trabalho da equipe</vt:lpstr>
      <vt:lpstr>gestão do trabalho da equipe </vt:lpstr>
      <vt:lpstr>Considerações Finais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553</cp:revision>
  <dcterms:created xsi:type="dcterms:W3CDTF">2013-01-27T09:14:16Z</dcterms:created>
  <dcterms:modified xsi:type="dcterms:W3CDTF">2026-06-10T23:01:08Z</dcterms:modified>
  <cp:category/>
</cp:coreProperties>
</file>